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Lor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ora-regular.fntdata"/><Relationship Id="rId14" Type="http://schemas.openxmlformats.org/officeDocument/2006/relationships/slide" Target="slides/slide10.xml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Lora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10" Type="http://schemas.openxmlformats.org/officeDocument/2006/relationships/image" Target="../media/image40.png"/><Relationship Id="rId9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image" Target="../media/image4.png"/><Relationship Id="rId7" Type="http://schemas.openxmlformats.org/officeDocument/2006/relationships/image" Target="../media/image41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669280" y="0"/>
            <a:ext cx="3840480" cy="51435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037855" y="1028640"/>
            <a:ext cx="2926200" cy="29262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6495" y="157728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640085" y="1482818"/>
            <a:ext cx="502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Lor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angoway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5" y="2287490"/>
            <a:ext cx="1920300" cy="549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79" y="2442938"/>
            <a:ext cx="3236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Infraestrutura Digital para 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Transporte Público Angolano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CF"/>
              </a:buClr>
              <a:buSzPts val="900"/>
              <a:buFont typeface="Lora"/>
              <a:buNone/>
            </a:pPr>
            <a:r>
              <a:rPr b="0" i="1" lang="en-US" sz="900" u="none" cap="none" strike="noStrike">
                <a:solidFill>
                  <a:srgbClr val="6B8FCF"/>
                </a:solidFill>
                <a:latin typeface="Lora"/>
                <a:ea typeface="Lora"/>
                <a:cs typeface="Lora"/>
                <a:sym typeface="Lora"/>
              </a:rPr>
              <a:t>LISPA  · 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 Problema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7041" y="1097280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77041" y="1097280"/>
            <a:ext cx="2651700" cy="549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255449" y="1261872"/>
            <a:ext cx="694800" cy="6948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177" y="13716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414201" y="210312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Sem visibilidade da frota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1633" y="2633472"/>
            <a:ext cx="2322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Gestores não sabem onde estão os autocarros. Comunicação feita por rádio, chamadas e cadernos — sem dados, sem </a:t>
            </a:r>
            <a:r>
              <a:rPr lang="en-US" sz="1000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controle</a:t>
            </a:r>
            <a:r>
              <a:rPr b="0" i="0" lang="en-US" sz="10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03121" y="1097280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03121" y="1097280"/>
            <a:ext cx="2651700" cy="549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181529" y="1261872"/>
            <a:ext cx="694800" cy="6948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1257" y="13716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3340281" y="210312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Gestão 100% manual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367713" y="2633472"/>
            <a:ext cx="2322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Planilhas e WhatsApp como ferramentas de operação. Sem histórico, sem escala, sem relatórios. Impossível crescer assim.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129201" y="1097280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129201" y="1097280"/>
            <a:ext cx="2651700" cy="549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107609" y="1261872"/>
            <a:ext cx="694800" cy="6948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7337" y="13716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266361" y="210312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Lora"/>
              <a:buNone/>
            </a:pPr>
            <a:r>
              <a:rPr b="1" i="0" lang="en-US" sz="12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Superlotação e atrasos crónicos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293793" y="2633472"/>
            <a:ext cx="2322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Sem dados de lotação, as operadoras não redistribuem a frota. Resultado: autocarros cheios e passageiros abandonados nas paragens.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02920" y="4160520"/>
            <a:ext cx="8138160" cy="658368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" y="4187952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Público-alvo:  Operadoras de transporte público urbano — TCUL · Macon · </a:t>
            </a:r>
            <a:r>
              <a:rPr lang="en-US" sz="1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Rosalina</a:t>
            </a:r>
            <a:r>
              <a:rPr b="0" i="0" lang="en-US" sz="1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Express · Huambo Express · Cooperativas e Operadores Provinciais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Solução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Lora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Um ecossistema 3 em 1 que conecta gestores, motoristas e passageiros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3088" y="1325880"/>
            <a:ext cx="2606100" cy="32460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60248" y="1463040"/>
            <a:ext cx="347400" cy="3474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60248" y="146304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4768" y="14356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460248" y="1920240"/>
            <a:ext cx="233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Dashboard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(Gestor)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60248" y="2587752"/>
            <a:ext cx="2331600" cy="273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60248" y="2697480"/>
            <a:ext cx="2331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Rastreamento GPS em tempo real · Relatórios analíticos de frota · Gestão de rotas, motoristas e incidentes · KPIs operacionais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267456" y="1325880"/>
            <a:ext cx="2606100" cy="32460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404616" y="1463040"/>
            <a:ext cx="347400" cy="3474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404616" y="146304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9136" y="14356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3404616" y="1920240"/>
            <a:ext cx="233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App do Motorista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404616" y="2587752"/>
            <a:ext cx="2331600" cy="273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404616" y="2697480"/>
            <a:ext cx="2331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Rota activa com navegação · Alertas de turno automáticos · Acções rápidas para emergências · Lotação actualizada em tempo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211824" y="1325880"/>
            <a:ext cx="2606100" cy="32460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348984" y="1463040"/>
            <a:ext cx="347400" cy="3474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348984" y="146304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3504" y="14356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6348984" y="1920240"/>
            <a:ext cx="233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App do Passageiro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348984" y="2587752"/>
            <a:ext cx="2331600" cy="273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348984" y="2697480"/>
            <a:ext cx="2331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Localização de autocarros em tempo real · Paragens e horários · Rota e tempo estimado de chegada · Interface acessível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Proposta de Valor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94303" y="1158240"/>
            <a:ext cx="8229600" cy="8961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31463" y="1176528"/>
            <a:ext cx="7955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 Angoway dá às operadoras de transporte público visibilidade e controlo total da sua frota — eliminando processos manuais e conectando gestores, motoristas e passageiros numa única infraestrutura digital.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04800" y="2438400"/>
            <a:ext cx="18744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04800" y="2438400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67740" y="2548128"/>
            <a:ext cx="548700" cy="548700"/>
          </a:xfrm>
          <a:prstGeom prst="ellipse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180" y="2639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396240" y="3188208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Controlo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14528" y="3535680"/>
            <a:ext cx="1655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Visibilidade total da frota em tempo real. Zero surpresas.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426208" y="2438400"/>
            <a:ext cx="18744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2426208" y="2438400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089148" y="2548128"/>
            <a:ext cx="548700" cy="548700"/>
          </a:xfrm>
          <a:prstGeom prst="ellipse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0588" y="2639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2517648" y="3188208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535936" y="3535680"/>
            <a:ext cx="1655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Decisões baseadas em analytics, não em intuição.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47616" y="2438400"/>
            <a:ext cx="18744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547616" y="2438400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210556" y="2548128"/>
            <a:ext cx="548700" cy="548700"/>
          </a:xfrm>
          <a:prstGeom prst="ellipse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1996" y="2639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4639056" y="3188208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Escala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657344" y="3535680"/>
            <a:ext cx="1655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De 10 a 200 autocarros com o mesmo esforço operacional.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669024" y="2438400"/>
            <a:ext cx="18744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669024" y="2438400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331964" y="2548128"/>
            <a:ext cx="548700" cy="548700"/>
          </a:xfrm>
          <a:prstGeom prst="ellipse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3404" y="26395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6760464" y="3188208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B2B SaaS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778752" y="3535680"/>
            <a:ext cx="1655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Receita recorrente. Lock-in por dados e processos digitalizados.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Angoway vs. Concorrência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11480" y="987552"/>
            <a:ext cx="2651760" cy="475488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84632" y="987552"/>
            <a:ext cx="250545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Benefício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46120" y="987552"/>
            <a:ext cx="2103120" cy="475488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319272" y="987552"/>
            <a:ext cx="19568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Sistemas Manuais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40680" y="987552"/>
            <a:ext cx="1874520" cy="475488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513832" y="987552"/>
            <a:ext cx="17282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Candongueiro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406640" y="987552"/>
            <a:ext cx="1463040" cy="475488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479792" y="987552"/>
            <a:ext cx="13167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Angoway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11480" y="1463040"/>
            <a:ext cx="265176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02920" y="1463040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Rastreamento GPS em tempo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246120" y="1463040"/>
            <a:ext cx="21031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08" y="1581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5440680" y="1463040"/>
            <a:ext cx="18745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440680" y="14630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Lora"/>
                <a:ea typeface="Lora"/>
                <a:cs typeface="Lora"/>
                <a:sym typeface="Lora"/>
              </a:rPr>
              <a:t>Parcial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406640" y="1463040"/>
            <a:ext cx="146304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1581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411480" y="1938528"/>
            <a:ext cx="2651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02920" y="1938528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Gestão operacional de frota (B2B)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246120" y="1938528"/>
            <a:ext cx="21031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08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5440680" y="1938528"/>
            <a:ext cx="1874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9068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7406640" y="1938528"/>
            <a:ext cx="14630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411480" y="2414016"/>
            <a:ext cx="265176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02920" y="2414016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Dashboard analítico para gestores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246120" y="2414016"/>
            <a:ext cx="21031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08" y="25328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5440680" y="2414016"/>
            <a:ext cx="18745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9068" y="25328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7406640" y="2414016"/>
            <a:ext cx="146304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25328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411480" y="2889504"/>
            <a:ext cx="2651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02920" y="2889504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App dedicado ao motorista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246120" y="2889504"/>
            <a:ext cx="21031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08" y="3008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5440680" y="2889504"/>
            <a:ext cx="1874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440680" y="2889504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Lora"/>
                <a:ea typeface="Lora"/>
                <a:cs typeface="Lora"/>
                <a:sym typeface="Lora"/>
              </a:rPr>
              <a:t>Parcial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406640" y="2889504"/>
            <a:ext cx="14630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3008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411480" y="3364992"/>
            <a:ext cx="265176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02920" y="3364992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Alertas automáticos de incidentes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46120" y="3364992"/>
            <a:ext cx="21031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08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5440680" y="3364992"/>
            <a:ext cx="18745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9068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7406640" y="3364992"/>
            <a:ext cx="146304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411480" y="3840480"/>
            <a:ext cx="26517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502920" y="3840480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Adaptação ao mercado angolano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246120" y="3840480"/>
            <a:ext cx="21031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8808" y="39593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5440680" y="3840480"/>
            <a:ext cx="1874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9068" y="39593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7406640" y="3840480"/>
            <a:ext cx="14630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39593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411480" y="4315968"/>
            <a:ext cx="265176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02920" y="4315968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Modelo SaaS / contrato com operadoras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246120" y="4315968"/>
            <a:ext cx="21031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08" y="4434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5440680" y="4315968"/>
            <a:ext cx="187452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9068" y="4434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7406640" y="4315968"/>
            <a:ext cx="1463040" cy="475488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9288" y="4434840"/>
            <a:ext cx="237744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Modelo de Negócios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84048" y="1005840"/>
            <a:ext cx="2011680" cy="324612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93776" y="1115568"/>
            <a:ext cx="329184" cy="329184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93776" y="11155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75488" y="15361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Plano 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5488" y="1920240"/>
            <a:ext cx="1828800" cy="32004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75488" y="19659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ora"/>
              <a:buNone/>
            </a:pPr>
            <a:r>
              <a:rPr b="1" lang="en-US" sz="1000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r>
              <a:rPr b="1" i="0" lang="en-US" sz="10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50,000 </a:t>
            </a:r>
            <a:r>
              <a:rPr b="1" lang="en-US" sz="1000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AOA</a:t>
            </a:r>
            <a:r>
              <a:rPr b="1" i="0" lang="en-US" sz="10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 / mês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93776" y="2441448"/>
            <a:ext cx="182880" cy="18288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31520" y="239572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Até 10 autocarros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93776" y="2788920"/>
            <a:ext cx="182880" cy="18288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31520" y="27432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Dashboard operacional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93776" y="3136392"/>
            <a:ext cx="182880" cy="18288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31520" y="309067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App do motorista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93776" y="3483864"/>
            <a:ext cx="182880" cy="18288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31520" y="343814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Rastreamento GPS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498826" y="1005840"/>
            <a:ext cx="2011800" cy="32460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2608554" y="1389888"/>
            <a:ext cx="329100" cy="3291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590840" y="1161288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590266" y="1448007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Plano Pro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590266" y="1908255"/>
            <a:ext cx="1828800" cy="321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2590265" y="2005747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Lora"/>
              <a:buNone/>
            </a:pPr>
            <a:r>
              <a:rPr b="1" lang="en-US" sz="1000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r>
              <a:rPr b="1" i="0" lang="en-US" sz="10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50,000 </a:t>
            </a:r>
            <a:r>
              <a:rPr b="1" lang="en-US" sz="1000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AOA</a:t>
            </a:r>
            <a:r>
              <a:rPr b="1" i="0" lang="en-US" sz="10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 / mês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608554" y="2307440"/>
            <a:ext cx="183000" cy="1830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2846298" y="2261720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Frota ilimitada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608554" y="2654912"/>
            <a:ext cx="183000" cy="1830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2846298" y="260919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Analytics avançados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608554" y="3002384"/>
            <a:ext cx="183000" cy="1830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2846298" y="2956664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App do passageiro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608554" y="3349856"/>
            <a:ext cx="183000" cy="1830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2846298" y="3304136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Relatórios exportáveis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608554" y="3697328"/>
            <a:ext cx="183000" cy="1830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2846298" y="3651608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Suporte prioritário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611624" y="1005840"/>
            <a:ext cx="2011800" cy="32460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721352" y="1115568"/>
            <a:ext cx="329100" cy="3291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721352" y="1115568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703064" y="1536192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Enterprise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703064" y="1920240"/>
            <a:ext cx="1828800" cy="321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703064" y="196596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Negociado por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721352" y="2441448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959096" y="2358738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Multi-operadora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721352" y="2788920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959096" y="2706210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API para integração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721352" y="3136392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959096" y="3044434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SLA garantido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21352" y="3483864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959096" y="3401154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Dados para governo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736793" y="1005840"/>
            <a:ext cx="2011800" cy="32460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846521" y="1115568"/>
            <a:ext cx="329100" cy="3291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6846521" y="1115568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or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828233" y="1536192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Fee de Setup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828233" y="1920240"/>
            <a:ext cx="1828800" cy="321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6828233" y="1965960"/>
            <a:ext cx="18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Taxa única</a:t>
            </a:r>
            <a:endParaRPr b="0" i="0" sz="10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846521" y="2441448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7084265" y="2358738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Onboarding completo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846521" y="2788920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7084265" y="2715457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Configuração de rotas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846521" y="3136392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084265" y="305368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Formação da equipa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846521" y="3483864"/>
            <a:ext cx="183000" cy="1830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084265" y="3410401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Suporte na activação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FCF"/>
              </a:buClr>
              <a:buSzPts val="900"/>
              <a:buFont typeface="Lora"/>
              <a:buNone/>
            </a:pPr>
            <a:r>
              <a:rPr b="0" i="1" lang="en-US" sz="900" u="none" cap="none" strike="noStrike">
                <a:solidFill>
                  <a:srgbClr val="6B8FCF"/>
                </a:solidFill>
                <a:latin typeface="Lora"/>
                <a:ea typeface="Lora"/>
                <a:cs typeface="Lora"/>
                <a:sym typeface="Lora"/>
              </a:rPr>
              <a:t>Modelo B2B SaaS · Receita recorrente · Lock-in por dados históricos e processos digitalizados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Métricas-Chave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73736" y="1252728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73736" y="1252728"/>
            <a:ext cx="20847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" y="14356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/>
          <p:nvPr/>
        </p:nvSpPr>
        <p:spPr>
          <a:xfrm>
            <a:off x="768096" y="1389888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Operadoras activas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83464" y="1938528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Contratos pagos por mês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2423160" y="1252728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2423160" y="1252728"/>
            <a:ext cx="20847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14356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/>
          <p:nvPr/>
        </p:nvSpPr>
        <p:spPr>
          <a:xfrm>
            <a:off x="3017520" y="1389888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Autocarros rastreados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2532888" y="1938528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Por operadora / em tempo real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672584" y="1252728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672584" y="1252728"/>
            <a:ext cx="20847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9744" y="14356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5266944" y="1389888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MRR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782312" y="1938528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Receita Mensal Recorrente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922008" y="1252728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922008" y="1252728"/>
            <a:ext cx="20847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168" y="14356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7516368" y="1389888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Taxa de Retenção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031736" y="1938528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Churn mensal &lt; 5%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73736" y="2825496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173736" y="2825496"/>
            <a:ext cx="20847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896" y="30083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/>
          <p:nvPr/>
        </p:nvSpPr>
        <p:spPr>
          <a:xfrm>
            <a:off x="768096" y="2962656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Tempo de resposta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83464" y="351129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A incidentes &lt; 3 minutos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2423160" y="2825496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2423160" y="2825496"/>
            <a:ext cx="20847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0320" y="30083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3017520" y="2962656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Uptime da plataforma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532888" y="351129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Disponibilidade &gt; 99%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672584" y="2825496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672584" y="2825496"/>
            <a:ext cx="20847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9744" y="30083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9"/>
          <p:cNvSpPr/>
          <p:nvPr/>
        </p:nvSpPr>
        <p:spPr>
          <a:xfrm>
            <a:off x="5266944" y="2962656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NPS de gestores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4782312" y="351129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Satisfação dos clientes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922008" y="2825496"/>
            <a:ext cx="2084700" cy="1426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922008" y="2825496"/>
            <a:ext cx="20847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59168" y="30083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/>
          <p:nvPr/>
        </p:nvSpPr>
        <p:spPr>
          <a:xfrm>
            <a:off x="7516368" y="2962656"/>
            <a:ext cx="139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50"/>
              <a:buFont typeface="Lora"/>
              <a:buNone/>
            </a:pPr>
            <a:r>
              <a:rPr b="1" i="0" lang="en-US" sz="1050" u="none" cap="none" strike="noStrike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Rotas configuradas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7031736" y="351129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Por operadora na plataforma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48640" y="1691640"/>
            <a:ext cx="8046600" cy="549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115568" y="1554480"/>
            <a:ext cx="329100" cy="329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0" y="932688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0" y="12252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Lora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Q3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81000" y="2014728"/>
            <a:ext cx="2560200" cy="23958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381000" y="2014728"/>
            <a:ext cx="25602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18160" y="210616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or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MVP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18160" y="2700528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728472" y="2581656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Dashboard web (gestor)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18160" y="3139440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28472" y="3020568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App do motorista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18160" y="3578352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728472" y="3459480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Rastreamento GPS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18160" y="4017264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728472" y="3898392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1 operadora piloto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041648" y="1554480"/>
            <a:ext cx="329100" cy="329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2926080" y="932688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2926080" y="12252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Lora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Q4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307080" y="2014728"/>
            <a:ext cx="2560200" cy="23958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307080" y="2014728"/>
            <a:ext cx="25602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444240" y="210616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or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Tracção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444240" y="2700528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3654552" y="2581656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App do passageiro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444240" y="3139440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3654552" y="3020568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Relatórios analíticos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444240" y="3578352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654552" y="3459480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3–5 operadoras activas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444240" y="4017264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3654552" y="3898392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Iteração com feedback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967728" y="1554480"/>
            <a:ext cx="329100" cy="329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852160" y="932688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Lora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Fase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852160" y="12252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Lora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Q1–Q2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233160" y="2014728"/>
            <a:ext cx="2560200" cy="23958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6233160" y="2014728"/>
            <a:ext cx="2560200" cy="504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6370320" y="210616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or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Escala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370320" y="2700528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580632" y="2581656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10+ operadoras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370320" y="3139440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580632" y="3020568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Integração IMTT/governo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370320" y="3578352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580632" y="3459480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Analytics avançados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370320" y="4017264"/>
            <a:ext cx="128100" cy="1281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580632" y="3898392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Expansão provincial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Equipa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1386840" y="1252728"/>
            <a:ext cx="18744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1386840" y="1252728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1821180" y="1417320"/>
            <a:ext cx="1005900" cy="1005900"/>
          </a:xfrm>
          <a:prstGeom prst="ellipse">
            <a:avLst/>
          </a:prstGeom>
          <a:solidFill>
            <a:srgbClr val="E8EDF8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492" y="162763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1"/>
          <p:cNvSpPr/>
          <p:nvPr/>
        </p:nvSpPr>
        <p:spPr>
          <a:xfrm>
            <a:off x="1478280" y="2532888"/>
            <a:ext cx="169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Lora"/>
              <a:buNone/>
            </a:pPr>
            <a:r>
              <a:rPr b="1" lang="en-US" sz="1100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Fernando Vunge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661160" y="2944368"/>
            <a:ext cx="1326000" cy="2925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1661160" y="2944368"/>
            <a:ext cx="132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1" lang="en-US" sz="9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478280" y="3337560"/>
            <a:ext cx="1691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b="0" i="0" lang="en-US" sz="880" u="none" cap="none" strike="noStrike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Arquitectura e desenvolvimento </a:t>
            </a:r>
            <a:r>
              <a:rPr lang="en-US" sz="880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3535680" y="1252728"/>
            <a:ext cx="18744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3535680" y="1252728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3970020" y="1417320"/>
            <a:ext cx="1005900" cy="1005900"/>
          </a:xfrm>
          <a:prstGeom prst="ellipse">
            <a:avLst/>
          </a:prstGeom>
          <a:solidFill>
            <a:srgbClr val="E8EDF8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0332" y="162763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/>
          <p:nvPr/>
        </p:nvSpPr>
        <p:spPr>
          <a:xfrm>
            <a:off x="3627120" y="2532888"/>
            <a:ext cx="169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Lora"/>
              <a:buNone/>
            </a:pPr>
            <a:r>
              <a:rPr b="1" lang="en-US" sz="1100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Pedro Capitango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3810000" y="2944368"/>
            <a:ext cx="1326000" cy="2925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3810000" y="2944368"/>
            <a:ext cx="132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1" lang="en-US" sz="9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627120" y="3337560"/>
            <a:ext cx="1691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lang="en-US" sz="880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Desenvolvimento</a:t>
            </a:r>
            <a:endParaRPr sz="880">
              <a:solidFill>
                <a:srgbClr val="6B728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lang="en-US" sz="880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  <a:endParaRPr sz="880">
              <a:solidFill>
                <a:srgbClr val="6B728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684520" y="1252728"/>
            <a:ext cx="18744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5684520" y="1252728"/>
            <a:ext cx="1874400" cy="504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6118860" y="1417320"/>
            <a:ext cx="1005900" cy="1005900"/>
          </a:xfrm>
          <a:prstGeom prst="ellipse">
            <a:avLst/>
          </a:prstGeom>
          <a:solidFill>
            <a:srgbClr val="E8EDF8"/>
          </a:solidFill>
          <a:ln cap="flat" cmpd="sng" w="127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9172" y="162763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1"/>
          <p:cNvSpPr/>
          <p:nvPr/>
        </p:nvSpPr>
        <p:spPr>
          <a:xfrm>
            <a:off x="5775960" y="2532888"/>
            <a:ext cx="169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Lora"/>
              <a:buNone/>
            </a:pPr>
            <a:r>
              <a:rPr b="1" lang="en-US" sz="1100">
                <a:solidFill>
                  <a:srgbClr val="0D1B4B"/>
                </a:solidFill>
                <a:latin typeface="Lora"/>
                <a:ea typeface="Lora"/>
                <a:cs typeface="Lora"/>
                <a:sym typeface="Lora"/>
              </a:rPr>
              <a:t>Dário Silva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958840" y="2944368"/>
            <a:ext cx="1326000" cy="2925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958840" y="2944368"/>
            <a:ext cx="132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ora"/>
              <a:buNone/>
            </a:pPr>
            <a:r>
              <a:rPr b="1" lang="en-US" sz="9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FullStack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5775960" y="3337560"/>
            <a:ext cx="1691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lang="en-US" sz="880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Desenvolvimento FullStack</a:t>
            </a:r>
            <a:endParaRPr sz="880">
              <a:solidFill>
                <a:srgbClr val="6B728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Lora"/>
              <a:buNone/>
            </a:pPr>
            <a:r>
              <a:rPr lang="en-US" sz="880">
                <a:solidFill>
                  <a:srgbClr val="6B7280"/>
                </a:solidFill>
                <a:latin typeface="Lora"/>
                <a:ea typeface="Lora"/>
                <a:cs typeface="Lora"/>
                <a:sym typeface="Lora"/>
              </a:rPr>
              <a:t>e Mobile</a:t>
            </a:r>
            <a:endParaRPr sz="880">
              <a:solidFill>
                <a:srgbClr val="6B728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806440" y="1005840"/>
            <a:ext cx="2834700" cy="2834700"/>
          </a:xfrm>
          <a:prstGeom prst="ellipse">
            <a:avLst/>
          </a:prstGeom>
          <a:solidFill>
            <a:srgbClr val="2B5CE6"/>
          </a:solidFill>
          <a:ln cap="flat" cmpd="sng" w="12700">
            <a:solidFill>
              <a:srgbClr val="2B5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50876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518160" y="1295400"/>
            <a:ext cx="475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Lor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angoway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18160" y="2072640"/>
            <a:ext cx="1920300" cy="549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518160" y="2209800"/>
            <a:ext cx="4755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Infraestrutura Digital para 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Lora"/>
                <a:ea typeface="Lora"/>
                <a:cs typeface="Lora"/>
                <a:sym typeface="Lora"/>
              </a:rPr>
              <a:t>Transporte Público Angolano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18160" y="3169920"/>
            <a:ext cx="475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Lora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Lora"/>
                <a:ea typeface="Lora"/>
                <a:cs typeface="Lora"/>
                <a:sym typeface="Lora"/>
              </a:rPr>
              <a:t>Vamos modernizar o transporte público em Angola.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365760" y="4462272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CF"/>
              </a:buClr>
              <a:buSzPts val="950"/>
              <a:buFont typeface="Lora"/>
              <a:buNone/>
            </a:pPr>
            <a:r>
              <a:rPr b="0" i="1" lang="en-US" sz="950" u="none" cap="none" strike="noStrike">
                <a:solidFill>
                  <a:srgbClr val="6B8FCF"/>
                </a:solidFill>
                <a:latin typeface="Lora"/>
                <a:ea typeface="Lora"/>
                <a:cs typeface="Lora"/>
                <a:sym typeface="Lora"/>
              </a:rPr>
              <a:t>angoway.a</a:t>
            </a:r>
            <a:r>
              <a:rPr i="1" lang="en-US" sz="950">
                <a:solidFill>
                  <a:srgbClr val="6B8FCF"/>
                </a:solidFill>
                <a:latin typeface="Lora"/>
                <a:ea typeface="Lora"/>
                <a:cs typeface="Lora"/>
                <a:sym typeface="Lora"/>
              </a:rPr>
              <a:t>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